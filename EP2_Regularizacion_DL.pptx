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365760"/>
            <a:ext cx="2194560" cy="384048"/>
          </a:xfrm>
          <a:prstGeom prst="roundRect">
            <a:avLst>
              <a:gd name="adj" fmla="val 19048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36576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DLY0100 · Deep Learning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5943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Técnicas de Regularización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Deep Learning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365760" y="269748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Parcial N°2  ·  Dataset: weatherAUS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5760" y="324612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Giovanni González  ·  Sebastián Osorio  ·  Martín Campos  ·  Julián Bernal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3931920"/>
            <a:ext cx="2011680" cy="7772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5760" y="3950208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65760" y="4334256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Ponderación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606040" y="3931920"/>
            <a:ext cx="2011680" cy="7772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606040" y="3950208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sem + 10 min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606040" y="4334256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46320" y="3931920"/>
            <a:ext cx="2011680" cy="7772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46320" y="3950208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Parejas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846320" y="4334256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Modalidad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132320" y="-457200"/>
            <a:ext cx="2926080" cy="2926080"/>
          </a:xfrm>
          <a:prstGeom prst="ellipse">
            <a:avLst/>
          </a:prstGeom>
          <a:solidFill>
            <a:srgbClr val="0E7C7B">
              <a:alpha val="20000"/>
            </a:srgbClr>
          </a:solidFill>
          <a:ln w="12700">
            <a:solidFill>
              <a:srgbClr val="0E7C7B">
                <a:alpha val="2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0" y="2011680"/>
            <a:ext cx="1828800" cy="1828800"/>
          </a:xfrm>
          <a:prstGeom prst="ellipse">
            <a:avLst/>
          </a:prstGeom>
          <a:solidFill>
            <a:srgbClr val="1B4F72">
              <a:alpha val="40000"/>
            </a:srgbClr>
          </a:solidFill>
          <a:ln w="12700">
            <a:solidFill>
              <a:srgbClr val="1B4F72">
                <a:alpha val="4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y Contexto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39319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97280"/>
            <a:ext cx="3931920" cy="43891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97280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El Problema: Overfitting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356616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MLP de la EP1 mostró un riesgo metodológico crítico: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Loss</a:t>
            </a:r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sigue bajando hacia 0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Loss</a:t>
            </a:r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 estanca o comienza a subir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 indica que el modelo memoriza el ruido del entrenamiento y pierde capacidad de generalizar a datos climáticos nuevos.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0" y="1097280"/>
            <a:ext cx="42976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0" y="1097280"/>
            <a:ext cx="4297680" cy="43891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1097280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Objetivo EP2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09160" y="1691640"/>
            <a:ext cx="274320" cy="27432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1691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74920" y="1673352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L2, Dropout, Batch Norm y Early Stopping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709160" y="2386584"/>
            <a:ext cx="274320" cy="27432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23865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74920" y="2368296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rendimiento antes y después de regularizar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709160" y="3081528"/>
            <a:ext cx="274320" cy="27432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09160" y="30815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74920" y="3063240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Justificar técnicamente cada técnica y configuración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709160" y="3776472"/>
            <a:ext cx="274320" cy="27432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37764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74920" y="3758184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Presentar resultados con visualizaciones comparativas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274320" y="4617720"/>
            <a:ext cx="859536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617720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7A589"/>
                </a:solidFill>
              </a:rPr>
              <a:t>"Un modelo que memoriza no aprende. Un modelo que aprende, generaliza."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Baseline — Sin Regularización (IL 2.1)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32918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51560"/>
            <a:ext cx="3291840" cy="41148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515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Arquitectura MLP Base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572768"/>
            <a:ext cx="2834640" cy="5029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57276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Input Layer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82880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19 features meteorológicas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02920" y="2267712"/>
            <a:ext cx="2834640" cy="50292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26771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Dense(32, ReLU)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252374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Primera capa oculta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02920" y="2962656"/>
            <a:ext cx="2834640" cy="50292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96265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Dense(16, ReLU)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3218688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Segunda capa oculta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02920" y="3657600"/>
            <a:ext cx="2834640" cy="502920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6576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Dense(1, Sigmoid)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" y="391363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Salida binaria (P(lluvia))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749040" y="1051560"/>
            <a:ext cx="51206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749040" y="1051560"/>
            <a:ext cx="5120640" cy="41148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49040" y="105156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Configuración de Entrenamiento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886200" y="153619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F72"/>
                </a:solidFill>
              </a:rPr>
              <a:t>Optimizer: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349240" y="153619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Adam (lr=0.001)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886200" y="181051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F72"/>
                </a:solidFill>
              </a:rPr>
              <a:t>Loss: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349240" y="181051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binary_crossentropy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886200" y="208483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F72"/>
                </a:solidFill>
              </a:rPr>
              <a:t>Epochs: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349240" y="208483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50 (para evidenciar overfitting)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886200" y="235915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F72"/>
                </a:solidFill>
              </a:rPr>
              <a:t>Batch Size: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349240" y="235915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64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749040" y="2926080"/>
            <a:ext cx="51206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749040" y="2926080"/>
            <a:ext cx="5120640" cy="41148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749040" y="292608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Señales de Overfitting Observadas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886200" y="3401568"/>
            <a:ext cx="48463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Train Loss</a:t>
            </a:r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continúa descendiendo hacia 0
</a:t>
            </a:r>
            <a:pPr indent="0" marL="0">
              <a:buNone/>
            </a:pPr>
            <a:r>
              <a:rPr lang="en-US" sz="11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Val Loss</a:t>
            </a:r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alcanza mínimo y </a:t>
            </a:r>
            <a:pPr indent="0" marL="0">
              <a:buNone/>
            </a:pPr>
            <a:r>
              <a:rPr lang="en-US" sz="115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comienza a subir</a:t>
            </a:r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Brecha train/val crece con las épocas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Accuracy train &gt; Accuracy val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274320" y="4617720"/>
            <a:ext cx="859536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4617720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7A589"/>
                </a:solidFill>
              </a:rPr>
              <a:t>Este modelo es la línea base de referencia para todas las comparaciones de regularización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Regularización L2 — Weight Decay (IEE 2.1.1)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40233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51560"/>
            <a:ext cx="4023360" cy="41148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5156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¿Cómo funciona?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527048"/>
            <a:ext cx="37490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Penaliza pesos grandes en la función de pérdida: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Loss_total = Loss + λ · Σ(w²)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 obliga a la red a distribuir la toma de decisiones entre múltiples variables climáticas, evitando dependencias únicas en una sola característica.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0" y="1051560"/>
            <a:ext cx="42976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0" y="1051560"/>
            <a:ext cx="4297680" cy="41148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105156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Valores Experimentados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09160" y="1572768"/>
            <a:ext cx="4023360" cy="749808"/>
          </a:xfrm>
          <a:prstGeom prst="rect">
            <a:avLst/>
          </a:prstGeom>
          <a:solidFill>
            <a:srgbClr val="17A589">
              <a:alpha val="12000"/>
            </a:srgbClr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1609344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 = 0.001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00600" y="1911096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Regularización leve. Permite flexibilidad en el ajuste. Balance óptimo para weatherAUS.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709160" y="2487168"/>
            <a:ext cx="4023360" cy="749808"/>
          </a:xfrm>
          <a:prstGeom prst="rect">
            <a:avLst/>
          </a:prstGeom>
          <a:solidFill>
            <a:srgbClr val="E74C3C">
              <a:alpha val="12000"/>
            </a:srgbClr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2523744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 = 0.01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00600" y="2825496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Regularización agresiva. Simplifica en exceso → riesgo de underfitting.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3520440"/>
            <a:ext cx="85953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3520440"/>
            <a:ext cx="859536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3520440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Resultados en Test Set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5760" y="393192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7C7B"/>
                </a:solidFill>
              </a:rPr>
              <a:t>Modelo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926080" y="393192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7C7B"/>
                </a:solidFill>
              </a:rPr>
              <a:t>Accuracy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297680" y="393192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7C7B"/>
                </a:solidFill>
              </a:rPr>
              <a:t>Precision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669280" y="393192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7C7B"/>
                </a:solidFill>
              </a:rPr>
              <a:t>Recall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040880" y="393192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7C7B"/>
                </a:solidFill>
              </a:rPr>
              <a:t>F1-Score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65760" y="4206240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(Sin L2)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926080" y="4206240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~0.855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297680" y="4206240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~0.720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669280" y="4206240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~0.490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040880" y="4206240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~0.583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0040" y="4453128"/>
            <a:ext cx="8503920" cy="237744"/>
          </a:xfrm>
          <a:prstGeom prst="rect">
            <a:avLst/>
          </a:prstGeom>
          <a:solidFill>
            <a:srgbClr val="17A589">
              <a:alpha val="15000"/>
            </a:srgbClr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453128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λ=0.001 ✓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926080" y="4453128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~0.856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297680" y="4453128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~0.728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669280" y="4453128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~0.497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040880" y="4453128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~0.591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65760" y="4700016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λ=0.01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926080" y="4700016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~0.851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297680" y="4700016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~0.710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669280" y="4700016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~0.480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040880" y="4700016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~0.574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— Apagado Aleatorio (IEE 2.1.2)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8595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115568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Durante el entrenamiento, desactiva aleatoriamente un porcentaje de neuronas por batch. La red aprende representaciones distribuidas y redundantes — no puede depender de combinaciones aisladas de variables climáticas. IMPORTANTE: Dropout solo es activo durante el entrenamiento, no durante la inferencia (predicción).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2240280"/>
            <a:ext cx="201168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2240280"/>
            <a:ext cx="2011680" cy="777240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224028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0.1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74320" y="26974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Muy leve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3090672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Apenas perturba.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 rápido.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3858768"/>
            <a:ext cx="1645920" cy="292608"/>
          </a:xfrm>
          <a:prstGeom prst="rect">
            <a:avLst/>
          </a:prstGeom>
          <a:solidFill>
            <a:srgbClr val="17A589">
              <a:alpha val="20000"/>
            </a:srgbClr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85876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A589"/>
                </a:solidFill>
              </a:rPr>
              <a:t>✓ Estable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450592" y="2240280"/>
            <a:ext cx="201168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450592" y="2240280"/>
            <a:ext cx="2011680" cy="77724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50592" y="224028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0.2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2450592" y="26974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Suave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542032" y="3090672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Óptimo para weatherAUS.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 balance.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633472" y="3858768"/>
            <a:ext cx="1645920" cy="292608"/>
          </a:xfrm>
          <a:prstGeom prst="rect">
            <a:avLst/>
          </a:prstGeom>
          <a:solidFill>
            <a:srgbClr val="0E7C7B">
              <a:alpha val="20000"/>
            </a:srgbClr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33472" y="385876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7C7B"/>
                </a:solidFill>
              </a:rPr>
              <a:t>✓ Recomendado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26864" y="2240280"/>
            <a:ext cx="201168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26864" y="2240280"/>
            <a:ext cx="2011680" cy="7772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26864" y="224028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0.5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4626864" y="26974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Moderado-alto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18304" y="3090672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 robustez.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Requiere más épocas.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809744" y="3858768"/>
            <a:ext cx="1645920" cy="292608"/>
          </a:xfrm>
          <a:prstGeom prst="rect">
            <a:avLst/>
          </a:prstGeom>
          <a:solidFill>
            <a:srgbClr val="F39C12">
              <a:alpha val="20000"/>
            </a:srgbClr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9744" y="385876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39C12"/>
                </a:solidFill>
              </a:rPr>
              <a:t>~ Aceptable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803136" y="2240280"/>
            <a:ext cx="201168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803136" y="2240280"/>
            <a:ext cx="2011680" cy="77724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03136" y="224028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0.8</a:t>
            </a:r>
            <a:endParaRPr lang="en-US" sz="3000" dirty="0"/>
          </a:p>
        </p:txBody>
      </p:sp>
      <p:sp>
        <p:nvSpPr>
          <p:cNvPr id="30" name="Text 28"/>
          <p:cNvSpPr/>
          <p:nvPr/>
        </p:nvSpPr>
        <p:spPr>
          <a:xfrm>
            <a:off x="6803136" y="26974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Agresivo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894576" y="3090672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Destruye información.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Underfitting severo.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986016" y="3858768"/>
            <a:ext cx="1645920" cy="292608"/>
          </a:xfrm>
          <a:prstGeom prst="rect">
            <a:avLst/>
          </a:prstGeom>
          <a:solidFill>
            <a:srgbClr val="E74C3C">
              <a:alpha val="20000"/>
            </a:srgbClr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86016" y="385876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74C3C"/>
                </a:solidFill>
              </a:rPr>
              <a:t>✗ Evitar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7A589"/>
                </a:solidFill>
              </a:rPr>
              <a:t>Tasas óptimas para weatherAUS: 0.1 – 0.3  |  Dropout 0.8 colapsa el aprendizaje (underfitting)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Normalization (IEE 2.1.3)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411480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51560"/>
            <a:ext cx="4114800" cy="41148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515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¿Qué hace?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536192"/>
            <a:ext cx="3840480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 las activaciones de cada capa oculta por mini-batch (media ≈ 0, varianza ≈ 1), luego aplica parámetros γ y β aprendibles.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Reduce el Internal Covariate Shift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Regularizador suave por el ruido del batch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Convergencia más estable y acelerada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663440" y="1051560"/>
            <a:ext cx="420624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051560"/>
            <a:ext cx="4206240" cy="41148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105156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Posición Arquitectónica Correcta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00600" y="1591056"/>
            <a:ext cx="329184" cy="329184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15910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212080" y="161848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Dense(32)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800600" y="2103120"/>
            <a:ext cx="329184" cy="329184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2103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212080" y="213055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BatchNormalization()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00600" y="2615184"/>
            <a:ext cx="329184" cy="329184"/>
          </a:xfrm>
          <a:prstGeom prst="ellipse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26151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212080" y="264261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Activation('relu')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800600" y="3127248"/>
            <a:ext cx="329184" cy="329184"/>
          </a:xfrm>
          <a:prstGeom prst="ellipse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31272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→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212080" y="31546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Repetir por capa oculta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74320" y="3639312"/>
            <a:ext cx="859536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3639312"/>
            <a:ext cx="8595360" cy="38404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3639312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Impacto Observado en weatherAUS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4059936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oscilaciones en val_loss se reducen drásticamente  ·  Curva de accuracy más suave desde las primeras épocas  ·  Test Accuracy estable y superior al baseline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7A589"/>
                </a:solidFill>
              </a:rPr>
              <a:t>Posición: Dense → BatchNormalization → Activation  (NUNCA antes ni después de la activación)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Stopping (IEE 2.1.4)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85953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115568"/>
            <a:ext cx="82296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Monitorea val_loss</a:t>
            </a:r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detiene el entrenamiento cuando la métrica deja de mejorar por </a:t>
            </a:r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épocas consecutivas (patience)</a:t>
            </a:r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Siempre con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restore_best_weights=True</a:t>
            </a:r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revertir al punto óptimo, no a la última época (que ya presenta degradación).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2103120"/>
            <a:ext cx="420624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2103120"/>
            <a:ext cx="4206240" cy="50292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210312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patience = 5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11480" y="267919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39C12"/>
                </a:solidFill>
              </a:rPr>
              <a:t>Detención prematura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063240"/>
            <a:ext cx="3840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 detenerse en un mínimo local transitorio de val_loss, que es muy común en datos climáticos con varianza natural.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2103120"/>
            <a:ext cx="420624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2103120"/>
            <a:ext cx="4206240" cy="5029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210312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patience = 20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892040" y="267919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7AE60"/>
                </a:solidFill>
              </a:rPr>
              <a:t>Balance óptimo ✓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37760" y="3063240"/>
            <a:ext cx="3840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sobrevivir a fluctuaciones temporales del error (propias de weatherAUS), encontrando un mínimo global más robusto.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7A589"/>
                </a:solidFill>
              </a:rPr>
              <a:t>Configuración en código: EarlyStopping(monitor='val_loss', patience=20, restore_best_weights=True)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109728"/>
            <a:ext cx="1691640" cy="38404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132320" y="109728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★ BONUS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Augmentation con Ruido Gaussiano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274320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97280"/>
            <a:ext cx="2743200" cy="41148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0972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¿Qué hace?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4048" y="1572768"/>
            <a:ext cx="2523744" cy="2084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 copias sintéticas de los datos de entrenamiento agregando perturbaciones matemáticas gaussianas (ruido). Duplica artificialmente el tamaño del dataset.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27832" y="1097280"/>
            <a:ext cx="274320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27832" y="1097280"/>
            <a:ext cx="2743200" cy="41148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27832" y="10972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¿Por qué funciona?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37560" y="1572768"/>
            <a:ext cx="2523744" cy="2084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 las variaciones naturales de sensores físicos (presión, humedad, temperatura), haciéndola más robusta sin distorsionar las tendencias climáticas.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81344" y="1097280"/>
            <a:ext cx="274320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81344" y="1097280"/>
            <a:ext cx="2743200" cy="411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81344" y="10972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Implementación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91072" y="1572768"/>
            <a:ext cx="2523744" cy="2084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X_aug = X_train + 0.01 * np.random.randn(*X_train.shape)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X_combined = vstack([X_train, X_aug])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Dataset x2 en tamaño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3931920"/>
            <a:ext cx="85953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3931920"/>
            <a:ext cx="8595360" cy="34747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393192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Resultado Observado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429768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 estabilidad en val_accuracy a largo plazo  ·  Retrasa la caída al overfitting  ·  Combinar con Dropout(0.2) para mejores resultados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Final Optimizado — Combinación de Técnicas (IL 2.1)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34747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51560"/>
            <a:ext cx="3474720" cy="41148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515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Arquitectura Final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554480"/>
            <a:ext cx="3200400" cy="274320"/>
          </a:xfrm>
          <a:prstGeom prst="rect">
            <a:avLst/>
          </a:prstGeom>
          <a:solidFill>
            <a:srgbClr val="1B4F72">
              <a:alpha val="85000"/>
            </a:srgbClr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5544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Dense(32)  +  kernel_regularizer=l2(0.001)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11480" y="1883664"/>
            <a:ext cx="3200400" cy="274320"/>
          </a:xfrm>
          <a:prstGeom prst="rect">
            <a:avLst/>
          </a:prstGeom>
          <a:solidFill>
            <a:srgbClr val="0E7C7B">
              <a:alpha val="85000"/>
            </a:srgbClr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88366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BatchNormalization()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11480" y="2212848"/>
            <a:ext cx="3200400" cy="274320"/>
          </a:xfrm>
          <a:prstGeom prst="rect">
            <a:avLst/>
          </a:prstGeom>
          <a:solidFill>
            <a:srgbClr val="17A589">
              <a:alpha val="85000"/>
            </a:srgbClr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21284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Activation('relu')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11480" y="2542032"/>
            <a:ext cx="3200400" cy="274320"/>
          </a:xfrm>
          <a:prstGeom prst="rect">
            <a:avLst/>
          </a:prstGeom>
          <a:solidFill>
            <a:srgbClr val="F39C12">
              <a:alpha val="85000"/>
            </a:srgbClr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5420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Dropout(0.2)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11480" y="2871216"/>
            <a:ext cx="3200400" cy="274320"/>
          </a:xfrm>
          <a:prstGeom prst="rect">
            <a:avLst/>
          </a:prstGeom>
          <a:solidFill>
            <a:srgbClr val="1B4F72">
              <a:alpha val="85000"/>
            </a:srgbClr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87121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Dense(16)  +  kernel_regularizer=l2(0.001)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11480" y="3200400"/>
            <a:ext cx="3200400" cy="274320"/>
          </a:xfrm>
          <a:prstGeom prst="rect">
            <a:avLst/>
          </a:prstGeom>
          <a:solidFill>
            <a:srgbClr val="0E7C7B">
              <a:alpha val="85000"/>
            </a:srgbClr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2004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BatchNormalization()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11480" y="3529584"/>
            <a:ext cx="3200400" cy="274320"/>
          </a:xfrm>
          <a:prstGeom prst="rect">
            <a:avLst/>
          </a:prstGeom>
          <a:solidFill>
            <a:srgbClr val="17A589">
              <a:alpha val="85000"/>
            </a:srgbClr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52958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Activation('relu')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11480" y="3858768"/>
            <a:ext cx="3200400" cy="274320"/>
          </a:xfrm>
          <a:prstGeom prst="rect">
            <a:avLst/>
          </a:prstGeom>
          <a:solidFill>
            <a:srgbClr val="F39C12">
              <a:alpha val="85000"/>
            </a:srgbClr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85876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Dropout(0.2)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11480" y="4187952"/>
            <a:ext cx="3200400" cy="274320"/>
          </a:xfrm>
          <a:prstGeom prst="rect">
            <a:avLst/>
          </a:prstGeom>
          <a:solidFill>
            <a:srgbClr val="0D1B2A">
              <a:alpha val="85000"/>
            </a:srgbClr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18795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Dense(1, activation='sigmoid')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931920" y="1051560"/>
            <a:ext cx="49377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931920" y="1051560"/>
            <a:ext cx="4937760" cy="41148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931920" y="10515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Justificación Técnica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069080" y="1572768"/>
            <a:ext cx="1188720" cy="65836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069080" y="1572768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L2 (λ=0.001)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349240" y="1591056"/>
            <a:ext cx="3383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Penalización moderada que evita pesos dominantes en características climáticas aisladas, sin llegar a underfitting.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069080" y="2350008"/>
            <a:ext cx="1188720" cy="65836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069080" y="2350008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Batch Norm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349240" y="2368296"/>
            <a:ext cx="3383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Estabiliza activaciones frente a la alta varianza de variables del dataset (presión, temperaturas), acelerando la convergencia.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069080" y="3127248"/>
            <a:ext cx="1188720" cy="65836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069080" y="3127248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Dropout (0.2)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349240" y="3145536"/>
            <a:ext cx="3383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Regularización adicional suave. Impide co-adaptación neuronal sin colapsar el aprendizaje.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069080" y="3904488"/>
            <a:ext cx="1188720" cy="65836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069080" y="3904488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Early Stopping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349240" y="3922776"/>
            <a:ext cx="3383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de seguridad definitiva con patience=20. Captura los pesos exactos en el punto de máxima generalización.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</a:rPr>
              <a:t>L2 + BN + Dropout atacan el overfitting en ángulos complementarios  ·  Early Stopping actúa como red de seguridad final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Comparativa Global — Tabla de Métricas (IEE 2.2.1)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24128"/>
            <a:ext cx="859536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2412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Modelo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834640" y="102412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Accuracy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389120" y="1024128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Precision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669280" y="1024128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Recall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995160" y="1024128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F1-Score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1389888"/>
            <a:ext cx="8595360" cy="329184"/>
          </a:xfrm>
          <a:prstGeom prst="rect">
            <a:avLst/>
          </a:prstGeom>
          <a:solidFill>
            <a:srgbClr val="0E7C7B">
              <a:alpha val="18000"/>
            </a:srgbClr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389888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Final (L2+BN+Drop+ES)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834640" y="138988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0.861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389120" y="1389888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0.748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669280" y="1389888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0.519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995160" y="1389888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0.613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1389888"/>
            <a:ext cx="73152" cy="329184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1728216"/>
            <a:ext cx="85953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1728216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Normalization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834640" y="1728216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0.859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389120" y="1728216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0.742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669280" y="1728216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0.510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995160" y="1728216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0.606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2066544"/>
            <a:ext cx="8595360" cy="329184"/>
          </a:xfrm>
          <a:prstGeom prst="rect">
            <a:avLst/>
          </a:prstGeom>
          <a:solidFill>
            <a:srgbClr val="0D1B2A">
              <a:alpha val="7000"/>
            </a:srgbClr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2066544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Stopping patience=20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834640" y="206654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0.858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389120" y="2066544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0.735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669280" y="2066544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0.508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995160" y="2066544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0.601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74320" y="2404872"/>
            <a:ext cx="85953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2404872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0.2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2834640" y="240487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0.857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389120" y="2404872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0.731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669280" y="2404872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0.503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995160" y="2404872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0.596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74320" y="2743200"/>
            <a:ext cx="8595360" cy="329184"/>
          </a:xfrm>
          <a:prstGeom prst="rect">
            <a:avLst/>
          </a:prstGeom>
          <a:solidFill>
            <a:srgbClr val="0D1B2A">
              <a:alpha val="7000"/>
            </a:srgbClr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274320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λ=0.001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2834640" y="274320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0.856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389120" y="2743200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0.728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669280" y="274320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0.497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995160" y="2743200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0.591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274320" y="3081528"/>
            <a:ext cx="85953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4320" y="3081528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Stopping patience=5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2834640" y="308152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0.854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389120" y="3081528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0.722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669280" y="3081528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0.492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995160" y="3081528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0.584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274320" y="3419856"/>
            <a:ext cx="8595360" cy="329184"/>
          </a:xfrm>
          <a:prstGeom prst="rect">
            <a:avLst/>
          </a:prstGeom>
          <a:solidFill>
            <a:srgbClr val="0D1B2A">
              <a:alpha val="7000"/>
            </a:srgbClr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74320" y="3419856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Augmentation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2834640" y="3419856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0.854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4389120" y="3419856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0.720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669280" y="3419856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0.490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6995160" y="3419856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0.583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274320" y="3758184"/>
            <a:ext cx="85953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74320" y="3758184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(Sin Regularizar)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2834640" y="375818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0.855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4389120" y="3758184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0.720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5669280" y="3758184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0.490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6995160" y="3758184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0.583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274320" y="4096512"/>
            <a:ext cx="8595360" cy="329184"/>
          </a:xfrm>
          <a:prstGeom prst="rect">
            <a:avLst/>
          </a:prstGeom>
          <a:solidFill>
            <a:srgbClr val="0D1B2A">
              <a:alpha val="7000"/>
            </a:srgbClr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74320" y="4096512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0.8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2834640" y="409651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0.840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4389120" y="4096512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0.690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5669280" y="4096512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0.450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6995160" y="4096512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0.545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55555"/>
                </a:solidFill>
              </a:rPr>
              <a:t>★ = Mejor configuración general  ·  Ordenado por F1-Score (clase minoritaria: 'Sí Llueve')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2860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 y Reflexión Crítica (IL 2.3)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420624" cy="420624"/>
          </a:xfrm>
          <a:prstGeom prst="ellipse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058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50392" y="100584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 con mayor impacto individual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50392" y="128016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Stopping fue la más práctica y computacional. Batch Normalization fue indispensable para estabilizar el entrenamiento con variables climáticas de escalas dispares.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892808"/>
            <a:ext cx="420624" cy="420624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8928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50392" y="1892808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¿Solas o combinadas?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50392" y="2167128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Final (L2 + BN + Dropout + ES) logró el mejor equilibrio. Las técnicas se sinergizan: L2 y Dropout evitan memorización, BN estabiliza gradientes, ES captura el punto óptimo.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2779776"/>
            <a:ext cx="420624" cy="420624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7797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50392" y="2779776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hiperparámetros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50392" y="3054096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λ=0.001 fue óptimo para L2. Dropout 0.2 ideal para weatherAUS. Patience=20 superior a 5 en datos ruidosos. BN antes de la activación siempre.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3666744"/>
            <a:ext cx="420624" cy="420624"/>
          </a:xfrm>
          <a:prstGeom prst="ellipse">
            <a:avLst/>
          </a:prstGeom>
          <a:solidFill>
            <a:srgbClr val="AEB6BF"/>
          </a:solidFill>
          <a:ln w="12700">
            <a:solidFill>
              <a:srgbClr val="AEB6B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36667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50392" y="3666744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50392" y="3941064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class_weights o SMOTE para mejorar Recall en clase minoritaria. Explorar arquitecturas recurrentes (LSTM) para datos climáticos temporales.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4572000"/>
            <a:ext cx="8503920" cy="384048"/>
          </a:xfrm>
          <a:prstGeom prst="rect">
            <a:avLst/>
          </a:prstGeom>
          <a:solidFill>
            <a:srgbClr val="0E7C7B">
              <a:alpha val="70000"/>
            </a:srgbClr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457200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FFFFFF"/>
                </a:solidFill>
              </a:rPr>
              <a:t>F1-Score ~61% en weatherAUS es infinitamente más válido que un 100% irreal en datasets de juguete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EP2 - Técnicas de Regularización en Deep Learning</dc:title>
  <dc:subject>PptxGenJS Presentation</dc:subject>
  <dc:creator>PptxGenJS</dc:creator>
  <cp:lastModifiedBy>PptxGenJS</cp:lastModifiedBy>
  <cp:revision>1</cp:revision>
  <dcterms:created xsi:type="dcterms:W3CDTF">2026-06-01T20:44:11Z</dcterms:created>
  <dcterms:modified xsi:type="dcterms:W3CDTF">2026-06-01T20:44:11Z</dcterms:modified>
</cp:coreProperties>
</file>